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9056" autoAdjust="0"/>
  </p:normalViewPr>
  <p:slideViewPr>
    <p:cSldViewPr snapToGrid="0" snapToObjects="1">
      <p:cViewPr varScale="1">
        <p:scale>
          <a:sx n="115" d="100"/>
          <a:sy n="115" d="100"/>
        </p:scale>
        <p:origin x="31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63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é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tem</a:t>
            </a:r>
            <a:r>
              <a:rPr lang="en-US" dirty="0"/>
              <a:t> </a:t>
            </a:r>
            <a:r>
              <a:rPr lang="en-US" dirty="0" err="1"/>
              <a:t>impacto</a:t>
            </a:r>
            <a:r>
              <a:rPr lang="en-US" dirty="0"/>
              <a:t>. Ao </a:t>
            </a:r>
            <a:r>
              <a:rPr lang="en-US" dirty="0" err="1"/>
              <a:t>adicionar</a:t>
            </a:r>
            <a:r>
              <a:rPr lang="en-US" dirty="0"/>
              <a:t> Web o </a:t>
            </a:r>
            <a:r>
              <a:rPr lang="en-US" dirty="0" err="1"/>
              <a:t>sucesso</a:t>
            </a:r>
            <a:r>
              <a:rPr lang="en-US" dirty="0"/>
              <a:t> é </a:t>
            </a:r>
            <a:r>
              <a:rPr lang="en-US" dirty="0" err="1"/>
              <a:t>maior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a </a:t>
            </a:r>
            <a:r>
              <a:rPr lang="en-US" dirty="0" err="1"/>
              <a:t>falha</a:t>
            </a:r>
            <a:r>
              <a:rPr lang="en-US" dirty="0"/>
              <a:t> e WEMS é </a:t>
            </a:r>
            <a:r>
              <a:rPr lang="en-US" dirty="0" err="1"/>
              <a:t>consideravelmente</a:t>
            </a:r>
            <a:r>
              <a:rPr lang="en-US" dirty="0"/>
              <a:t> </a:t>
            </a:r>
            <a:r>
              <a:rPr lang="en-US" dirty="0" err="1"/>
              <a:t>melhor</a:t>
            </a:r>
            <a:endParaRPr lang="en-US" dirty="0"/>
          </a:p>
          <a:p>
            <a:endParaRPr lang="en-US" dirty="0"/>
          </a:p>
          <a:p>
            <a:r>
              <a:rPr lang="en-US" dirty="0"/>
              <a:t>Homem, </a:t>
            </a:r>
            <a:r>
              <a:rPr lang="en-US" dirty="0" err="1"/>
              <a:t>jovem</a:t>
            </a:r>
            <a:r>
              <a:rPr lang="en-US" dirty="0"/>
              <a:t>, com </a:t>
            </a:r>
            <a:r>
              <a:rPr lang="en-US" dirty="0" err="1"/>
              <a:t>limite</a:t>
            </a:r>
            <a:r>
              <a:rPr lang="en-US" dirty="0"/>
              <a:t> </a:t>
            </a:r>
            <a:r>
              <a:rPr lang="en-US" dirty="0" err="1"/>
              <a:t>baixo</a:t>
            </a:r>
            <a:r>
              <a:rPr lang="en-US" dirty="0"/>
              <a:t> de </a:t>
            </a:r>
            <a:r>
              <a:rPr lang="en-US" dirty="0" err="1"/>
              <a:t>crédito</a:t>
            </a:r>
            <a:r>
              <a:rPr lang="en-US" dirty="0"/>
              <a:t> é 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converte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Clientes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Ofertas Certas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Juarez Oliveira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todas as ofertas satisfazem todos os clientes — e nem todos os clientes querem todas as ofertas.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240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questões orientaram este estudo: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272491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o perfil de cliente que converte mais ofertas?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6576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33192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tipo de oferta tem maior taxa de sucesso?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6576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9136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direcionar uma oferta específica ao cliente certo?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45720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Abordagem: dois modelos de IA (machine learning) aplicados a dados reais.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converte e o quê?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411480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 COM MAIS SUCESSO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819656"/>
            <a:ext cx="292608" cy="292608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1148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proporção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mulheres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505456"/>
            <a:ext cx="292608" cy="292608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114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5528" y="2468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limite de crédito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191256"/>
            <a:ext cx="292608" cy="292608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1148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5528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ligeiramente mais avançada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77056"/>
            <a:ext cx="292608" cy="292608"/>
          </a:xfrm>
          <a:prstGeom prst="rect">
            <a:avLst/>
          </a:prstGeom>
          <a:solidFill>
            <a:srgbClr val="0F2D4A"/>
          </a:solidFill>
          <a:ln w="12700">
            <a:solidFill>
              <a:srgbClr val="0F2D4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11480" y="3877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" y="38404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gasto com pedidos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2344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402336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46320" y="1234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COM MAIOR TAXA DE SUCESSO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181965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983480" y="1819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67528" y="17830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de desconto (vs. BOGO)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250545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983480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67528" y="24688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mínimo a partir de R$ 7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191256"/>
            <a:ext cx="29260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98348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67528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canais de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(web,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e-mail e social)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0"/>
            <a:ext cx="64008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228600" y="41148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cliente e oferta com 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de classificação analisa o perfil do cliente e decide: vale enviar essa oferta?</a:t>
            </a:r>
            <a:endParaRPr lang="en-US" sz="1300" dirty="0"/>
          </a:p>
        </p:txBody>
      </p:sp>
      <p:pic>
        <p:nvPicPr>
          <p:cNvPr id="5" name="Image 0" descr="/tmp/chart_conver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0"/>
            <a:ext cx="4023360" cy="2926080"/>
          </a:xfrm>
          <a:prstGeom prst="rect">
            <a:avLst/>
          </a:prstGeom>
        </p:spPr>
      </p:pic>
      <p:pic>
        <p:nvPicPr>
          <p:cNvPr id="6" name="Image 1" descr="/tmp/chart_mess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645920"/>
            <a:ext cx="402336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4617720"/>
            <a:ext cx="402336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274320" y="4617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 na taxa de conversão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846320" y="4617720"/>
            <a:ext cx="402336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4846320" y="4617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-37,7% de mensagens enviadas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D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246888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90,6%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conversão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modelo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914400"/>
            <a:ext cx="246888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337560" y="1051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-37,7%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37560" y="1920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no envio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mensagens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914400"/>
            <a:ext cx="2468880" cy="20116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172200" y="105156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+17%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72200" y="19202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sobre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Perguntas, dúvidas ou comentários?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265</Words>
  <Application>Microsoft Office PowerPoint</Application>
  <PresentationFormat>Apresentação na tela (16:9)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Estudo de Caso — Modelo de Conversão</dc:title>
  <dc:subject>PptxGenJS Presentation</dc:subject>
  <dc:creator>PptxGenJS</dc:creator>
  <cp:lastModifiedBy>Juarez Ventura de Oliveira</cp:lastModifiedBy>
  <cp:revision>5</cp:revision>
  <dcterms:created xsi:type="dcterms:W3CDTF">2026-05-21T14:05:26Z</dcterms:created>
  <dcterms:modified xsi:type="dcterms:W3CDTF">2026-05-21T14:19:29Z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2726d3b-6796-48f5-a53d-57abbe9f0891_Enabled">
    <vt:lpwstr>true</vt:lpwstr>
  </property>
  <property fmtid="{D5CDD505-2E9C-101B-9397-08002B2CF9AE}" pid="3" name="MSIP_Label_d2726d3b-6796-48f5-a53d-57abbe9f0891_SetDate">
    <vt:lpwstr>2026-05-21T14:12:15Z</vt:lpwstr>
  </property>
  <property fmtid="{D5CDD505-2E9C-101B-9397-08002B2CF9AE}" pid="4" name="MSIP_Label_d2726d3b-6796-48f5-a53d-57abbe9f0891_Method">
    <vt:lpwstr>Standard</vt:lpwstr>
  </property>
  <property fmtid="{D5CDD505-2E9C-101B-9397-08002B2CF9AE}" pid="5" name="MSIP_Label_d2726d3b-6796-48f5-a53d-57abbe9f0891_Name">
    <vt:lpwstr>Unclassified</vt:lpwstr>
  </property>
  <property fmtid="{D5CDD505-2E9C-101B-9397-08002B2CF9AE}" pid="6" name="MSIP_Label_d2726d3b-6796-48f5-a53d-57abbe9f0891_SiteId">
    <vt:lpwstr>4fc2f3aa-31c4-4dcb-b719-c6c16393e9d3</vt:lpwstr>
  </property>
  <property fmtid="{D5CDD505-2E9C-101B-9397-08002B2CF9AE}" pid="7" name="MSIP_Label_d2726d3b-6796-48f5-a53d-57abbe9f0891_ActionId">
    <vt:lpwstr>ea1fd980-6c18-4b29-9b51-4fb939a96931</vt:lpwstr>
  </property>
  <property fmtid="{D5CDD505-2E9C-101B-9397-08002B2CF9AE}" pid="8" name="MSIP_Label_d2726d3b-6796-48f5-a53d-57abbe9f0891_ContentBits">
    <vt:lpwstr>0</vt:lpwstr>
  </property>
  <property fmtid="{D5CDD505-2E9C-101B-9397-08002B2CF9AE}" pid="9" name="MSIP_Label_d2726d3b-6796-48f5-a53d-57abbe9f0891_Tag">
    <vt:lpwstr>10, 3, 0, 1</vt:lpwstr>
  </property>
</Properties>
</file>